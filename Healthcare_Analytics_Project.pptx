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2" r:id="rId10"/>
    <p:sldId id="273" r:id="rId11"/>
    <p:sldId id="271" r:id="rId12"/>
    <p:sldId id="267" r:id="rId13"/>
    <p:sldId id="268" r:id="rId14"/>
    <p:sldId id="269" r:id="rId15"/>
    <p:sldId id="265" r:id="rId16"/>
    <p:sldId id="274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1"/>
    <p:restoredTop sz="94763"/>
  </p:normalViewPr>
  <p:slideViewPr>
    <p:cSldViewPr snapToGrid="0">
      <p:cViewPr varScale="1">
        <p:scale>
          <a:sx n="114" d="100"/>
          <a:sy n="114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E6A6-DC5D-9D80-1C99-23A1B539C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909A4-69F3-E80F-92FD-F3815A57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CDA8-DB60-D46D-D0DF-356956FA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17EBD-DCFC-A967-BD27-8F9C237C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F0612-CCC2-FA49-16D6-915DCEF0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0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F917-1A03-622A-093E-2E3898B8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2ED2A-4643-FF3A-2E99-DF8042DEC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20012-2F89-F94D-34F9-2DEFDB63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9123D-5247-B8FC-1EB0-8DD15D9F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DBA58-B5D0-1E40-5D72-1A3267EA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D881-1EE7-006E-4B27-C72090A3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86E53-03F4-1F58-90F0-93DE0B86B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7F2BF-A416-A932-87A1-E2DE66C4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17454-E3E3-1E57-EB01-158DAD37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FE86-B573-BBF0-B2F4-695C1100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27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9523-C1C1-D978-2AA5-81E77DF1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6CE22-815F-37FB-41C8-173F485B0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8303F-7F2F-2736-C99B-22F3FB21D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9591C-3A84-5AD9-0392-F2C973CE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4592E-1A9A-40CE-1D09-EC4E1747F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AA12B-CB1A-B438-709B-7DEDAF3C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9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371E-A931-6CF2-DCB4-D304A718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E0A4D-CC65-BD50-F027-5A5F35B69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F5A8C-5F23-E756-A6BE-FAE8ABA1D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92092-66F5-74A3-DECA-C7350603D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267E83-02C4-6D3E-67FC-65BA6EC49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D1263-4825-6A1B-97C7-C61D0A8B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72A5E-E38E-6881-3FCF-CB32819C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9E70F-65D3-A257-8BBF-1AACA34E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7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3ECB-42A7-C529-92FE-07DBFA8B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700E5-7057-110D-03EA-F90B7A47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AA6D9-95E4-27C3-1EAD-38E8DA1D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259E4-68D1-8A40-5F7A-2C14C96A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71B1B-8B53-1D55-0117-3C07F0A7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C30C1F-E345-E583-1079-A3941BAB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93081-C9DD-E80D-9AAF-FDC49844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0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BF34-CC50-7A6A-CCEC-F47A7626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90D8-E29B-564B-0913-78965AE9F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22DED-0F82-05E1-D087-93D4D7D6E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8E0FC-EFEE-FADA-96CB-CE2AE11C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3D7D2-9C8B-342D-A928-B59F388F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0FE7C-B177-B192-DD6B-0DE2F8A4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5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BA61A-33E5-6D87-3AFC-37160B68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60258-9107-D511-9750-D25488F94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13401-BB28-8E4D-E523-9FD9C2387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E10EB-7AF3-6BA0-9646-FD603522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1303F-0CE4-D2D1-C655-8A843873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459ED-8410-5BA0-BAE1-1E33EFBE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4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C838-B8F6-669E-65BD-F155D3FC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2F133-52A5-D9C4-BD82-81F497E73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07CAB-62DF-01A8-5B8A-81E7359D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B51FC-1E45-CE2A-8EB9-CC924A32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75044-EDBB-C2A2-AA4C-8FC2D862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50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E465B-27BF-853D-E8AE-BC376FD7A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1CCAA-18CC-FA56-6A7B-815E9FF2F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CFE2-892A-F055-60A7-1E523116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9BACD-1DDD-87DC-E532-33650B06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96494-3953-EA1E-6D7A-8AF7C759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1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E1714-6F2D-E1BE-F6FA-F0EDB276F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6E577-0C28-61D2-B6DD-42C9CBA6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D1A18-9AE2-0FB1-E427-225CE48F2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8502F-922C-C144-AF00-C3094AE888F7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7411E-0FC0-B357-3E39-94542E68A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F0CC2-8615-8FDB-737A-A9E8ECC20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D1345-1378-7D4C-8B90-FA3F969CF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7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Nicolybgs/healthcare_data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8F4BA-EC81-B77E-60A5-21B0FAC4F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688" y="921716"/>
            <a:ext cx="5999356" cy="22006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algn="l">
              <a:spcBef>
                <a:spcPts val="0"/>
              </a:spcBef>
              <a:spcAft>
                <a:spcPts val="800"/>
              </a:spcAft>
            </a:pPr>
            <a:r>
              <a:rPr lang="en-US" sz="37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Analyzing and Predicting Long Hospital Stays to Improve Healthcare Resource Planning</a:t>
            </a:r>
            <a:endParaRPr lang="en-US" sz="37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D65C8-8E00-E072-23D1-64C1D54BF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562" y="4248614"/>
            <a:ext cx="5428902" cy="1159727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Ankita Pingale</a:t>
            </a:r>
            <a:b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40B8A1C9-A0D7-197A-6BB5-4C96B8C46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49" r="3" b="3"/>
          <a:stretch>
            <a:fillRect/>
          </a:stretch>
        </p:blipFill>
        <p:spPr>
          <a:xfrm>
            <a:off x="6573907" y="658499"/>
            <a:ext cx="5163022" cy="5163003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5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3799D-661D-E7D8-6AC0-589A492E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66850-E8E6-CF05-F5A6-99E34E8F6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8214" y="2184383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Hospitals face major operational challenges in managing patient length of stay (LOS).</a:t>
            </a:r>
          </a:p>
          <a:p>
            <a:pPr marL="0" indent="0"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hospital stays can lead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treatment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risk of hospital-acquired infections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bed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Strain on medical staff and resources</a:t>
            </a:r>
          </a:p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short stays may indicate premature discharge or poor care planning.</a:t>
            </a:r>
          </a:p>
          <a:p>
            <a:pPr marL="0" indent="0"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accurately predicting length of stay at admission can help hospitals plan better and improve patient care.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858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B1C0C-0A4F-93B2-B5FE-ECFAD805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8EE72-C333-0209-EC62-79A4AA0DE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build a predictive model that can identify patients likely to stay in the hospital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than 10 days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at the time of admission.</a:t>
            </a:r>
          </a:p>
          <a:p>
            <a:pPr marL="0" indent="0">
              <a:buNone/>
            </a:pP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will help hospitals: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 staffing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bed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high-risk 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care coordination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operational inefficiencies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946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D6BB7-BDB8-4C62-ABD8-6D571DE1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801E-12D0-5A56-822A-0A2685538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750741"/>
            <a:ext cx="10625130" cy="4528422"/>
          </a:xfrm>
        </p:spPr>
        <p:txBody>
          <a:bodyPr anchor="ctr">
            <a:normAutofit fontScale="85000" lnSpcReduction="20000"/>
          </a:bodyPr>
          <a:lstStyle/>
          <a:p>
            <a:pPr marL="0" indent="0" algn="l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Business Question:</a:t>
            </a:r>
          </a:p>
          <a:p>
            <a:pPr marL="0" indent="0" algn="l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Can hospital admission variables such as department, severity of illness, staff availability, health conditions, and type of admission accurately predict long hospital stays?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 Examined: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Severity of illness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of admission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conditions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Staff availability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Admission deposit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681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8D78E-79F3-1B89-F07D-71632BB4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US" sz="4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1E08D-F7AB-FE70-0B2F-CBCCDBDA9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981" y="1891971"/>
            <a:ext cx="10359650" cy="4671492"/>
          </a:xfrm>
        </p:spPr>
        <p:txBody>
          <a:bodyPr anchor="ctr"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obtained from a publicly available source on Hugging Face.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approximately 500,000 hospital admission records and includes 15 variables describing both clinical and operational hospital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a mix of categorical variables, such as department, severity of illness, and type of admission, as well as numerical variables like admission deposit and staff availability.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the original dataset provided length of stay in days, a new binary target variable called </a:t>
            </a:r>
            <a:r>
              <a:rPr lang="en-US" sz="26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long_stay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was created, where 1 represents a hospital stay greater than 10 days and 0 represents a shorter stay.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was conducted using Python, with Pandas for data manipulation, Seaborn and Matplotlib for data visualization, and Scikit-learn for implementing the Logistic Regression model.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75917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D8B54-EE60-24D3-9606-047CA296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24" y="557072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  <a:br>
              <a:rPr lang="en-US" sz="3400" b="1" i="0" dirty="0">
                <a:solidFill>
                  <a:srgbClr val="FFFFFF"/>
                </a:solidFill>
                <a:effectLst/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3634-3355-AF3D-CA1D-35241D76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24" y="2007221"/>
            <a:ext cx="10415407" cy="4471638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“Stay (in days)” to numeric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binary variable: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long_stay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patient ID (no predictive value)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variables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data: 80% training / 20% testing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97811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F0D0B-B708-154A-27B6-38D34F07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EXPLORATORY DATA ANALYSIS (EDA)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FBD4E33-FD59-15BA-9934-690E10183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4687" y="1500542"/>
            <a:ext cx="5779138" cy="42765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A644AA-BC95-5B85-A418-3EFFF6903E84}"/>
              </a:ext>
            </a:extLst>
          </p:cNvPr>
          <p:cNvSpPr txBox="1"/>
          <p:nvPr/>
        </p:nvSpPr>
        <p:spPr>
          <a:xfrm>
            <a:off x="468352" y="4080462"/>
            <a:ext cx="4702629" cy="1348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Patients with moderate severity show the highest number of long stays, indicating that illness severity is strongly associated with extended hospitalization.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6F8B3-30B8-737A-F36B-4ECA856C2667}"/>
              </a:ext>
            </a:extLst>
          </p:cNvPr>
          <p:cNvSpPr txBox="1"/>
          <p:nvPr/>
        </p:nvSpPr>
        <p:spPr>
          <a:xfrm>
            <a:off x="6465607" y="1030556"/>
            <a:ext cx="4397298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 Stay by Severity of Illness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864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261B3C53-5079-0D4D-305C-A1CE46975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654" y="1395517"/>
            <a:ext cx="5720574" cy="42233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15145E-AA70-5385-ACDE-1500CFD4D6D2}"/>
              </a:ext>
            </a:extLst>
          </p:cNvPr>
          <p:cNvSpPr txBox="1"/>
          <p:nvPr/>
        </p:nvSpPr>
        <p:spPr>
          <a:xfrm>
            <a:off x="3888057" y="935584"/>
            <a:ext cx="3709639" cy="359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 Stay Patients by Department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7AFC5-F9B8-DA6C-2341-D963DC2BD701}"/>
              </a:ext>
            </a:extLst>
          </p:cNvPr>
          <p:cNvSpPr txBox="1"/>
          <p:nvPr/>
        </p:nvSpPr>
        <p:spPr>
          <a:xfrm>
            <a:off x="947854" y="5562830"/>
            <a:ext cx="9865788" cy="71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Radiotherapy and anesthesia departments have the highest proportion of long-stay patients, suggesting department type influences hospitalization duration.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979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414A98-0DD8-D2AF-AC12-EB2263B14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719" y="789126"/>
            <a:ext cx="6114232" cy="45563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7C2D03-CDD9-4778-78D8-48D852C567EB}"/>
              </a:ext>
            </a:extLst>
          </p:cNvPr>
          <p:cNvSpPr txBox="1"/>
          <p:nvPr/>
        </p:nvSpPr>
        <p:spPr>
          <a:xfrm>
            <a:off x="1405054" y="5737205"/>
            <a:ext cx="10281424" cy="71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Length of stay shows a strong positive correlation with the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long_stay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variable (0.85), while other numeric variables demonstrate weak linear relationships.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C880E-09F3-EFE1-5945-C719EB76EE20}"/>
              </a:ext>
            </a:extLst>
          </p:cNvPr>
          <p:cNvSpPr txBox="1"/>
          <p:nvPr/>
        </p:nvSpPr>
        <p:spPr>
          <a:xfrm>
            <a:off x="4042318" y="439367"/>
            <a:ext cx="3696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Correlation Heatmap of Numeric Variables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0167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0B2790-EAA4-D660-B3F5-B07783004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013" y="758220"/>
            <a:ext cx="6216844" cy="47136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E5E928-F9D0-B872-318C-86D44F18FAB4}"/>
              </a:ext>
            </a:extLst>
          </p:cNvPr>
          <p:cNvSpPr txBox="1"/>
          <p:nvPr/>
        </p:nvSpPr>
        <p:spPr>
          <a:xfrm>
            <a:off x="1522142" y="5584735"/>
            <a:ext cx="9015760" cy="71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Older age groups generally show longer hospital stays, suggesting age may be a contributing factor to prolonged hospitalization.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7C63A-EB56-4128-F1EC-AF75414A5354}"/>
              </a:ext>
            </a:extLst>
          </p:cNvPr>
          <p:cNvSpPr txBox="1"/>
          <p:nvPr/>
        </p:nvSpPr>
        <p:spPr>
          <a:xfrm>
            <a:off x="4187284" y="398634"/>
            <a:ext cx="3061010" cy="359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 Group vs Length of Stay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05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6267FF-FE24-3A0A-D68B-9D377E1C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955" y="1193180"/>
            <a:ext cx="5736421" cy="3980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E9E632-06E3-E779-BCE4-8986065AA3F8}"/>
              </a:ext>
            </a:extLst>
          </p:cNvPr>
          <p:cNvSpPr txBox="1"/>
          <p:nvPr/>
        </p:nvSpPr>
        <p:spPr>
          <a:xfrm>
            <a:off x="1449658" y="5427161"/>
            <a:ext cx="9567746" cy="711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Patients with long stays tend to have slightly higher admission deposits, indicating a potential financial association with extended hospitalization.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3721E-3C03-7A56-EC78-883C5CEC1F2C}"/>
              </a:ext>
            </a:extLst>
          </p:cNvPr>
          <p:cNvSpPr txBox="1"/>
          <p:nvPr/>
        </p:nvSpPr>
        <p:spPr>
          <a:xfrm>
            <a:off x="3448358" y="828063"/>
            <a:ext cx="4257907" cy="359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Admission Deposit Distribution by Long Stay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514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DFA51-04D1-C9D1-D2F9-C3629062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-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8D1B-18F0-417E-A193-9076015B9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46" y="1891970"/>
            <a:ext cx="11086886" cy="4531132"/>
          </a:xfrm>
        </p:spPr>
        <p:txBody>
          <a:bodyPr anchor="ctr">
            <a:normAutofit fontScale="25000" lnSpcReduction="20000"/>
          </a:bodyPr>
          <a:lstStyle/>
          <a:p>
            <a:pPr marL="0" indent="0" algn="l">
              <a:buNone/>
            </a:pPr>
            <a:endParaRPr lang="en-US" sz="1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8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Logistic Regression?</a:t>
            </a:r>
          </a:p>
          <a:p>
            <a:pPr marL="0" indent="0" algn="l">
              <a:buNone/>
            </a:pPr>
            <a:endParaRPr lang="en-US" sz="86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binary classification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coefficients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large datasets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8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probability estimates</a:t>
            </a:r>
          </a:p>
          <a:p>
            <a:pPr marL="0" indent="0" algn="l">
              <a:buNone/>
            </a:pPr>
            <a:endParaRPr lang="en-US" sz="86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8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96.36%</a:t>
            </a:r>
          </a:p>
          <a:p>
            <a:pPr algn="l"/>
            <a:r>
              <a:rPr lang="en-US" sz="8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96.97%</a:t>
            </a:r>
          </a:p>
          <a:p>
            <a:pPr algn="l"/>
            <a:r>
              <a:rPr lang="en-US" sz="8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89.16%</a:t>
            </a:r>
          </a:p>
          <a:p>
            <a:pPr algn="l"/>
            <a:r>
              <a:rPr lang="en-US" sz="8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ROC-AUC: 0.955</a:t>
            </a:r>
          </a:p>
          <a:p>
            <a:pPr marL="0" indent="0" algn="l">
              <a:buNone/>
            </a:pP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These results indicate the model is highly reliable in distinguishing between short and long stays.”</a:t>
            </a:r>
            <a:endParaRPr lang="en-US" sz="2000" b="0" i="0" dirty="0">
              <a:effectLst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0727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27F15-4EBA-8957-C74D-9E4B48A1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594C2-90F6-884E-76A5-CE782962C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02" y="1512180"/>
            <a:ext cx="4319594" cy="383363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4523-05CF-A784-DEBE-838205123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correctly classified most patients: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Negatives (short stay correctly predicted): 72,531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 745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Negatives: 2,898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Positives (long stay correctly predicted): 23,826</a:t>
            </a:r>
          </a:p>
          <a:p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49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060BB-0552-F6B6-0029-23F30E17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Model Performance - ROC Curve for Long Stay Prediction</a:t>
            </a:r>
            <a:endParaRPr lang="en-US" sz="3700" b="0" i="0" kern="120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52604-E993-2A39-1C71-300C4BBE684E}"/>
              </a:ext>
            </a:extLst>
          </p:cNvPr>
          <p:cNvSpPr txBox="1"/>
          <p:nvPr/>
        </p:nvSpPr>
        <p:spPr>
          <a:xfrm>
            <a:off x="113639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this graph shows:</a:t>
            </a:r>
            <a:endParaRPr lang="en-US" sz="17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blue line = Logistic Regression model performance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orange diagonal line = random guessing baseline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  <a:endParaRPr lang="en-US" sz="17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curve is close to the top-left corner → </a:t>
            </a:r>
            <a:r>
              <a:rPr lang="en-US" sz="1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predictive power</a:t>
            </a:r>
            <a:endParaRPr lang="en-US" sz="17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 to add below the graph:</a:t>
            </a:r>
            <a:endParaRPr lang="en-US" sz="17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ROC-AUC = 0.955 </a:t>
            </a:r>
            <a:endParaRPr lang="en-US" sz="17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model is very good at distinguishing long-stay vs short-stay patients.”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08D26B-50DB-2D95-252B-48311CC52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8482" y="1667716"/>
            <a:ext cx="5504012" cy="35225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46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35552-AE50-3387-BBFE-E9F5CD20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6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35747-80D6-3DF0-F651-C40ACB5F0D39}"/>
              </a:ext>
            </a:extLst>
          </p:cNvPr>
          <p:cNvSpPr txBox="1"/>
          <p:nvPr/>
        </p:nvSpPr>
        <p:spPr>
          <a:xfrm>
            <a:off x="782731" y="2130531"/>
            <a:ext cx="104848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demonstrated that hospital admission characteristics can be used to predict long hospital stays with high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strong performance, with an accuracy of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ROC-AUC score of 0.955, indicating excellent predictive capability.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of illness, department type, health conditions, and operational factors were identified as key contributors to extended hospitalization.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directly answer the business question by confirming that admission data contains sufficient information to classify patients at risk for prolonged stays.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can leverage this predictive approach to improve bed allocation, optimize staffing levels, and implement early intervention strategies for high-risk patients.</a:t>
            </a:r>
          </a:p>
        </p:txBody>
      </p:sp>
    </p:spTree>
    <p:extLst>
      <p:ext uri="{BB962C8B-B14F-4D97-AF65-F5344CB8AC3E}">
        <p14:creationId xmlns:p14="http://schemas.microsoft.com/office/powerpoint/2010/main" val="24964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A71EF-B7EC-28D5-2A80-0292D5CC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465E-B2C8-3F16-C36B-D36D4848E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Nicolybgs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(n.d.).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dataset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Hugging Face.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https://huggingface.co/datasets/Nicolybgs/healthcare_data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Pedregosa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Varoquaux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Gramfort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Michel, V.,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Thirion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Grisel, O., …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Duchesnay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(2011). Scikit-learn: Machine learning in Python.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Machine Learning Research, 12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2825–2830.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Hosmer, D. W.,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Lemeshow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Sturdivant, R. X. (2013).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logistic regression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(3rd ed.). Wiley.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3495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DBB38-8CF1-D632-BF5A-C62D4C3B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!!</a:t>
            </a:r>
          </a:p>
        </p:txBody>
      </p:sp>
    </p:spTree>
    <p:extLst>
      <p:ext uri="{BB962C8B-B14F-4D97-AF65-F5344CB8AC3E}">
        <p14:creationId xmlns:p14="http://schemas.microsoft.com/office/powerpoint/2010/main" val="130755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898</Words>
  <Application>Microsoft Macintosh PowerPoint</Application>
  <PresentationFormat>Widescreen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-webkit-standard</vt:lpstr>
      <vt:lpstr>Aptos</vt:lpstr>
      <vt:lpstr>Aptos Display</vt:lpstr>
      <vt:lpstr>Arial</vt:lpstr>
      <vt:lpstr>Times New Roman</vt:lpstr>
      <vt:lpstr>Office Theme</vt:lpstr>
      <vt:lpstr>Analyzing and Predicting Long Hospital Stays to Improve Healthcare Resource Planning</vt:lpstr>
      <vt:lpstr>BACKGROUND</vt:lpstr>
      <vt:lpstr>PROJECT OBJECTIVE</vt:lpstr>
      <vt:lpstr>RESEARCH QUESTION</vt:lpstr>
      <vt:lpstr>DATA OVERVIEW</vt:lpstr>
      <vt:lpstr>DATA CLEANING &amp; PREPROCESSING 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Model Performance - Logistic Regression</vt:lpstr>
      <vt:lpstr>CONFUSION MATRIX</vt:lpstr>
      <vt:lpstr>Model Performance - ROC Curve for Long Stay Prediction</vt:lpstr>
      <vt:lpstr>CONCLUSION</vt:lpstr>
      <vt:lpstr>References</vt:lpstr>
      <vt:lpstr>Thank You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Pingale</dc:creator>
  <cp:lastModifiedBy>Ankita Pingale</cp:lastModifiedBy>
  <cp:revision>14</cp:revision>
  <dcterms:created xsi:type="dcterms:W3CDTF">2026-02-09T17:18:49Z</dcterms:created>
  <dcterms:modified xsi:type="dcterms:W3CDTF">2026-02-26T01:41:22Z</dcterms:modified>
</cp:coreProperties>
</file>